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8" r:id="rId3"/>
    <p:sldId id="257" r:id="rId4"/>
    <p:sldId id="271" r:id="rId5"/>
    <p:sldId id="259" r:id="rId6"/>
    <p:sldId id="300" r:id="rId7"/>
    <p:sldId id="303" r:id="rId8"/>
    <p:sldId id="301" r:id="rId9"/>
    <p:sldId id="302" r:id="rId10"/>
    <p:sldId id="269" r:id="rId11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0D5D9E-AC0B-4FE0-93A4-85E646B4A382}">
  <a:tblStyle styleId="{C10D5D9E-AC0B-4FE0-93A4-85E646B4A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2"/>
    <p:restoredTop sz="94694"/>
  </p:normalViewPr>
  <p:slideViewPr>
    <p:cSldViewPr snapToGrid="0">
      <p:cViewPr varScale="1">
        <p:scale>
          <a:sx n="161" d="100"/>
          <a:sy n="161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2692985D-7681-1528-F8AF-EADBDA07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C8476352-DCA7-6B6C-267E-89EAEFEC30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4F4E4FA1-2DB5-6CA2-5461-E7D4EE280A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851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A25A8090-8CCC-1EE5-BCB0-2DE1F743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6C4BF40B-FF5E-2AD2-60B1-568AA3A17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708AD8A9-C8B7-80E7-2774-EC67393B6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271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44C5B1E1-3FAC-A1D1-6745-08C3CD05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3A55AE3D-1B1A-313B-4501-ABBFE153EE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EAA003F2-3F89-C155-D57C-30A46BD70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072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300627D-1324-B372-E0A9-FD42CF50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13E6E03-749D-FFBD-A6CD-EF21884B9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75C4975-3489-37D1-FAD0-E8F89393F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545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8" r:id="rId6"/>
    <p:sldLayoutId id="2147483659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hyperlink" Target="https://claude.ai/public/artifacts/4385c606-e23a-49ad-a605-8cba57efb844?fullscreen=tru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0B0CAF3-FE8B-455C-163B-62DAD33BE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27"/>
            <a:ext cx="9144001" cy="874661"/>
          </a:xfrm>
          <a:prstGeom prst="rect">
            <a:avLst/>
          </a:prstGeom>
        </p:spPr>
      </p:pic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-5975" y="4694725"/>
            <a:ext cx="9144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B7B6D-F138-76BE-57ED-2FC437BFFD9A}"/>
              </a:ext>
            </a:extLst>
          </p:cNvPr>
          <p:cNvSpPr txBox="1"/>
          <p:nvPr/>
        </p:nvSpPr>
        <p:spPr>
          <a:xfrm>
            <a:off x="599780" y="42259"/>
            <a:ext cx="778884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r>
              <a:rPr lang="en-US" sz="1800" b="1" dirty="0">
                <a:solidFill>
                  <a:schemeClr val="bg1"/>
                </a:solidFill>
              </a:rPr>
              <a:t>Currency Breakdown Calculator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rgbClr val="FFC000"/>
                </a:solidFill>
              </a:rPr>
              <a:t>Created under the Guidance of Dr. Venkat </a:t>
            </a:r>
            <a:r>
              <a:rPr lang="en-US" dirty="0" err="1">
                <a:solidFill>
                  <a:srgbClr val="FFC000"/>
                </a:solidFill>
              </a:rPr>
              <a:t>Isampalli</a:t>
            </a:r>
            <a:r>
              <a:rPr lang="en-US" dirty="0">
                <a:solidFill>
                  <a:srgbClr val="FFC000"/>
                </a:solidFill>
              </a:rPr>
              <a:t> Sir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1026" name="Picture 2" descr="Contact Bachupally-Bowrampet, Hyderabad Campus - KLH University">
            <a:extLst>
              <a:ext uri="{FF2B5EF4-FFF2-40B4-BE49-F238E27FC236}">
                <a16:creationId xmlns:a16="http://schemas.microsoft.com/office/drawing/2014/main" id="{2DD4DB3B-1904-6D78-175B-6216F07D8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631" y="1803677"/>
            <a:ext cx="4689818" cy="192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D28859-9597-D452-6D04-5FA9F1360285}"/>
              </a:ext>
            </a:extLst>
          </p:cNvPr>
          <p:cNvSpPr/>
          <p:nvPr/>
        </p:nvSpPr>
        <p:spPr>
          <a:xfrm>
            <a:off x="755374" y="699715"/>
            <a:ext cx="357809" cy="3689405"/>
          </a:xfrm>
          <a:prstGeom prst="rect">
            <a:avLst/>
          </a:prstGeom>
          <a:solidFill>
            <a:srgbClr val="454F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6E2E98-2335-5EBF-3B8C-6CA3B9FBD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30" y="644056"/>
            <a:ext cx="603182" cy="38418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E72CCD-6F79-CB92-E94D-5F0BDBE6F663}"/>
              </a:ext>
            </a:extLst>
          </p:cNvPr>
          <p:cNvSpPr txBox="1"/>
          <p:nvPr/>
        </p:nvSpPr>
        <p:spPr>
          <a:xfrm>
            <a:off x="3588834" y="232751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INTRODUCTION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EED0389-E2D9-CFAF-FAEF-C1D1678B8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25081"/>
              </p:ext>
            </p:extLst>
          </p:nvPr>
        </p:nvGraphicFramePr>
        <p:xfrm>
          <a:off x="306037" y="1273810"/>
          <a:ext cx="6096000" cy="3037840"/>
        </p:xfrm>
        <a:graphic>
          <a:graphicData uri="http://schemas.openxmlformats.org/drawingml/2006/table">
            <a:tbl>
              <a:tblPr firstRow="1" bandRow="1">
                <a:tableStyleId>{C10D5D9E-AC0B-4FE0-93A4-85E646B4A382}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620868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95713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29193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Roll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Role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12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2520030446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K. </a:t>
                      </a:r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Satwik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Project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634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2520080007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B. Harshitha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Algorithm &amp; Calculator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06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2520030558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V. Rohan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Core Java Developer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04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2520030588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M. Shravya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9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2520030589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B. Niharika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Input Validation &amp; Error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209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2520030440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K. Anshu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Testing &amp; Quality Assurance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1581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17615" y="1100291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1" name="Google Shape;481;p29"/>
          <p:cNvSpPr txBox="1">
            <a:spLocks noGrp="1"/>
          </p:cNvSpPr>
          <p:nvPr>
            <p:ph type="subTitle" idx="1"/>
          </p:nvPr>
        </p:nvSpPr>
        <p:spPr>
          <a:xfrm>
            <a:off x="1607060" y="1438682"/>
            <a:ext cx="7375487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/>
              <a:t>To build a robust and highly efficient software tool capable of calculating the precise breakdown of any amount into the minimum required set of currency notes.</a:t>
            </a:r>
            <a:endParaRPr sz="1200" dirty="0"/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289715" y="1100303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accent2"/>
                </a:solidFill>
              </a:rPr>
              <a:t>Objective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1886264" y="2049270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4"/>
          </p:nvPr>
        </p:nvSpPr>
        <p:spPr>
          <a:xfrm>
            <a:off x="2097393" y="2398355"/>
            <a:ext cx="7010398" cy="6276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/>
              <a:t>The project transforms a basic procedural calculation into a </a:t>
            </a:r>
            <a:r>
              <a:rPr lang="en-IN" sz="1200" b="1" dirty="0"/>
              <a:t>modular, </a:t>
            </a:r>
            <a:r>
              <a:rPr lang="en-IN" sz="1200" dirty="0"/>
              <a:t>Object-Oriented system using Java. The final scope includes advanced features like good data handling, robust error prevention, and flexible integration with external interfaces.</a:t>
            </a:r>
            <a:endParaRPr sz="1200"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2758364" y="2049258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Scope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86" name="Google Shape;486;p29"/>
          <p:cNvSpPr txBox="1">
            <a:spLocks noGrp="1"/>
          </p:cNvSpPr>
          <p:nvPr>
            <p:ph type="title" idx="6"/>
          </p:nvPr>
        </p:nvSpPr>
        <p:spPr>
          <a:xfrm flipH="1">
            <a:off x="2441328" y="3146961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7" name="Google Shape;487;p29"/>
          <p:cNvSpPr txBox="1">
            <a:spLocks noGrp="1"/>
          </p:cNvSpPr>
          <p:nvPr>
            <p:ph type="subTitle" idx="7"/>
          </p:nvPr>
        </p:nvSpPr>
        <p:spPr>
          <a:xfrm>
            <a:off x="2630728" y="3580161"/>
            <a:ext cx="6513272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/>
              <a:t>The system features clean code separation (logic vs. data), supports polymorphic currency types for easy expansion, and incorporates elements well for dynamic result storage, all validated through a functional web interface.</a:t>
            </a:r>
            <a:endParaRPr sz="1200" dirty="0"/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8"/>
          </p:nvPr>
        </p:nvSpPr>
        <p:spPr>
          <a:xfrm>
            <a:off x="3187841" y="3133649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Key Outcomes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Abstract </a:t>
            </a:r>
            <a:r>
              <a:rPr lang="en" sz="2000" dirty="0">
                <a:solidFill>
                  <a:schemeClr val="accent6"/>
                </a:solidFill>
              </a:rPr>
              <a:t>{</a:t>
            </a:r>
            <a:endParaRPr sz="2000"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100960" y="1100280"/>
            <a:ext cx="506100" cy="3594445"/>
            <a:chOff x="1100960" y="1168950"/>
            <a:chExt cx="506100" cy="3523307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100960" y="4209590"/>
              <a:ext cx="506100" cy="482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0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9137225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0"/>
            <a:ext cx="4572000" cy="5376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65225" y="1706"/>
            <a:ext cx="4572000" cy="5359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Section – 9, Team - G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Problem Statement: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033669" y="1063175"/>
            <a:ext cx="7977808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accent6"/>
                </a:solidFill>
              </a:rPr>
              <a:t>The </a:t>
            </a:r>
            <a:r>
              <a:rPr lang="en-IN" sz="1100" dirty="0">
                <a:solidFill>
                  <a:schemeClr val="bg2"/>
                </a:solidFill>
              </a:rPr>
              <a:t>problem statement </a:t>
            </a:r>
            <a:r>
              <a:rPr lang="en-IN" sz="1100" dirty="0">
                <a:solidFill>
                  <a:schemeClr val="accent6"/>
                </a:solidFill>
              </a:rPr>
              <a:t>is to efficiently solve the change-making algorithmic problem for currency. Any system handling cash transactions (ATMs, vending machines, etc…) must accurately and quickly calculate the minimum number of notes required to break down a given amount.</a:t>
            </a:r>
          </a:p>
          <a:p>
            <a:pPr marL="139700" indent="0">
              <a:buNone/>
            </a:pPr>
            <a:endParaRPr lang="en-IN" sz="1100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accent1"/>
                </a:solidFill>
              </a:rPr>
              <a:t>Importance:</a:t>
            </a:r>
            <a:r>
              <a:rPr lang="en-IN" sz="1100" dirty="0">
                <a:solidFill>
                  <a:schemeClr val="accent1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This optimization is crucial for </a:t>
            </a:r>
            <a:r>
              <a:rPr lang="en-IN" sz="1100" b="1" dirty="0">
                <a:solidFill>
                  <a:schemeClr val="accent6"/>
                </a:solidFill>
              </a:rPr>
              <a:t>cost efficiency</a:t>
            </a:r>
            <a:r>
              <a:rPr lang="en-IN" sz="1100" dirty="0">
                <a:solidFill>
                  <a:schemeClr val="accent6"/>
                </a:solidFill>
              </a:rPr>
              <a:t> in real-world systems, ensuring fewer physical resources are used and transactions are fast.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accent1"/>
                </a:solidFill>
              </a:rPr>
              <a:t>Gaps in Simple Solutions:</a:t>
            </a:r>
            <a:r>
              <a:rPr lang="en-IN" sz="1100" dirty="0">
                <a:solidFill>
                  <a:schemeClr val="accent1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Simple, procedural solutions suffer from three major gaps: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accent6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2"/>
                </a:solidFill>
              </a:rPr>
              <a:t>Lack of Scalability:</a:t>
            </a:r>
            <a:r>
              <a:rPr lang="en-IN" sz="1100" dirty="0">
                <a:solidFill>
                  <a:schemeClr val="tx2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They are hardcoded for a single currency and must be completely rewritten to add new denominations (like a new note value).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accent6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2"/>
                </a:solidFill>
              </a:rPr>
              <a:t>Lack of Flexibility:</a:t>
            </a:r>
            <a:r>
              <a:rPr lang="en-IN" sz="1100" dirty="0">
                <a:solidFill>
                  <a:schemeClr val="tx2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They cannot easily be adapted to different currency systems (e.g., USD denominations) or user requirements.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accent6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2"/>
                </a:solidFill>
              </a:rPr>
              <a:t>Low Robustness:</a:t>
            </a:r>
            <a:r>
              <a:rPr lang="en-IN" sz="1100" dirty="0">
                <a:solidFill>
                  <a:schemeClr val="tx2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They lack essential </a:t>
            </a:r>
            <a:r>
              <a:rPr lang="en-IN" sz="1100" b="1" dirty="0">
                <a:solidFill>
                  <a:schemeClr val="accent6"/>
                </a:solidFill>
              </a:rPr>
              <a:t>error handling</a:t>
            </a:r>
            <a:r>
              <a:rPr lang="en-IN" sz="1100" dirty="0">
                <a:solidFill>
                  <a:schemeClr val="accent6"/>
                </a:solidFill>
              </a:rPr>
              <a:t> for invalid inputs (text, negative numbers), making the application prone to crashes.</a:t>
            </a: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-5976" y="4694725"/>
            <a:ext cx="9149975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0"/>
            <a:ext cx="457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Simple Java Project on Currency Breakdown Calculator</a:t>
            </a: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- 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"/>
          <p:cNvSpPr txBox="1">
            <a:spLocks noGrp="1"/>
          </p:cNvSpPr>
          <p:nvPr>
            <p:ph type="title"/>
          </p:nvPr>
        </p:nvSpPr>
        <p:spPr>
          <a:xfrm>
            <a:off x="1280170" y="700938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dirty="0">
                <a:solidFill>
                  <a:schemeClr val="lt1"/>
                </a:solidFill>
              </a:rPr>
              <a:t>Our Proposed System </a:t>
            </a:r>
            <a:r>
              <a:rPr lang="en" sz="1600" dirty="0">
                <a:solidFill>
                  <a:schemeClr val="accent6"/>
                </a:solidFill>
              </a:rPr>
              <a:t>{</a:t>
            </a:r>
            <a:br>
              <a:rPr lang="en" sz="1600" dirty="0">
                <a:solidFill>
                  <a:schemeClr val="accent6"/>
                </a:solidFill>
              </a:rPr>
            </a:br>
            <a:br>
              <a:rPr lang="en" sz="1000" dirty="0">
                <a:solidFill>
                  <a:schemeClr val="accent6"/>
                </a:solidFill>
              </a:rPr>
            </a:br>
            <a:endParaRPr sz="900" dirty="0">
              <a:solidFill>
                <a:schemeClr val="accent3"/>
              </a:solidFill>
            </a:endParaRPr>
          </a:p>
        </p:txBody>
      </p:sp>
      <p:sp>
        <p:nvSpPr>
          <p:cNvPr id="854" name="Google Shape;854;p42"/>
          <p:cNvSpPr txBox="1">
            <a:spLocks noGrp="1"/>
          </p:cNvSpPr>
          <p:nvPr>
            <p:ph type="subTitle" idx="4294967295"/>
          </p:nvPr>
        </p:nvSpPr>
        <p:spPr>
          <a:xfrm>
            <a:off x="-5976" y="4694725"/>
            <a:ext cx="9149975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855" name="Google Shape;855;p42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</a:p>
        </p:txBody>
      </p:sp>
      <p:sp>
        <p:nvSpPr>
          <p:cNvPr id="856" name="Google Shape;856;p42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– G </a:t>
            </a:r>
          </a:p>
        </p:txBody>
      </p:sp>
      <p:grpSp>
        <p:nvGrpSpPr>
          <p:cNvPr id="858" name="Google Shape;858;p42"/>
          <p:cNvGrpSpPr/>
          <p:nvPr/>
        </p:nvGrpSpPr>
        <p:grpSpPr>
          <a:xfrm>
            <a:off x="1084825" y="1212573"/>
            <a:ext cx="506100" cy="3326297"/>
            <a:chOff x="1084825" y="2556550"/>
            <a:chExt cx="506100" cy="1827037"/>
          </a:xfrm>
        </p:grpSpPr>
        <p:sp>
          <p:nvSpPr>
            <p:cNvPr id="859" name="Google Shape;859;p42"/>
            <p:cNvSpPr txBox="1"/>
            <p:nvPr/>
          </p:nvSpPr>
          <p:spPr>
            <a:xfrm>
              <a:off x="1084825" y="4069828"/>
              <a:ext cx="506100" cy="3137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2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860" name="Google Shape;860;p42"/>
            <p:cNvCxnSpPr/>
            <p:nvPr/>
          </p:nvCxnSpPr>
          <p:spPr>
            <a:xfrm>
              <a:off x="1337875" y="2556550"/>
              <a:ext cx="0" cy="1377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6EC64D6-57F9-EE9C-242F-F1F18D6BE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680" y="1434593"/>
            <a:ext cx="3862123" cy="2121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DBD9EC-F10C-5532-85B4-E1563D46C187}"/>
              </a:ext>
            </a:extLst>
          </p:cNvPr>
          <p:cNvSpPr txBox="1"/>
          <p:nvPr/>
        </p:nvSpPr>
        <p:spPr>
          <a:xfrm>
            <a:off x="1756334" y="1058684"/>
            <a:ext cx="2965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Architectural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480B6-F819-A4B9-3714-15053C00E594}"/>
              </a:ext>
            </a:extLst>
          </p:cNvPr>
          <p:cNvSpPr txBox="1"/>
          <p:nvPr/>
        </p:nvSpPr>
        <p:spPr>
          <a:xfrm>
            <a:off x="5503168" y="1075522"/>
            <a:ext cx="296514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Class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8CE157-2E64-20E3-CC38-1260C1E35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468" y="1383299"/>
            <a:ext cx="2913620" cy="27015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1750947" y="514827"/>
            <a:ext cx="5028624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Technology / Tools used</a:t>
            </a:r>
            <a:r>
              <a:rPr lang="en-IN" sz="2500" dirty="0"/>
              <a:t> </a:t>
            </a:r>
            <a:r>
              <a:rPr lang="en-IN" sz="250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503" name="Google Shape;503;p30"/>
          <p:cNvSpPr txBox="1"/>
          <p:nvPr/>
        </p:nvSpPr>
        <p:spPr>
          <a:xfrm>
            <a:off x="1750947" y="390033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5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cxnSpLocks/>
          </p:cNvCxnSpPr>
          <p:nvPr/>
        </p:nvCxnSpPr>
        <p:spPr>
          <a:xfrm>
            <a:off x="1752607" y="1375944"/>
            <a:ext cx="0" cy="2632839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0" y="4694725"/>
            <a:ext cx="9143999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- G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B9E04E-9DA7-4375-E439-EA3800088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495927"/>
              </p:ext>
            </p:extLst>
          </p:nvPr>
        </p:nvGraphicFramePr>
        <p:xfrm>
          <a:off x="2003997" y="1432170"/>
          <a:ext cx="6096000" cy="2520386"/>
        </p:xfrm>
        <a:graphic>
          <a:graphicData uri="http://schemas.openxmlformats.org/drawingml/2006/table">
            <a:tbl>
              <a:tblPr firstRow="1" bandRow="1">
                <a:tableStyleId>{C10D5D9E-AC0B-4FE0-93A4-85E646B4A382}</a:tableStyleId>
              </a:tblPr>
              <a:tblGrid>
                <a:gridCol w="1766246">
                  <a:extLst>
                    <a:ext uri="{9D8B030D-6E8A-4147-A177-3AD203B41FA5}">
                      <a16:colId xmlns:a16="http://schemas.microsoft.com/office/drawing/2014/main" val="512265815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1968960524"/>
                    </a:ext>
                  </a:extLst>
                </a:gridCol>
                <a:gridCol w="2825632">
                  <a:extLst>
                    <a:ext uri="{9D8B030D-6E8A-4147-A177-3AD203B41FA5}">
                      <a16:colId xmlns:a16="http://schemas.microsoft.com/office/drawing/2014/main" val="1330300142"/>
                    </a:ext>
                  </a:extLst>
                </a:gridCol>
              </a:tblGrid>
              <a:tr h="52867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Tools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Reason for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331222"/>
                  </a:ext>
                </a:extLst>
              </a:tr>
              <a:tr h="5286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accent1"/>
                          </a:solidFill>
                        </a:rPr>
                        <a:t>Backend/Core Logic</a:t>
                      </a:r>
                      <a:endParaRPr lang="en-US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accent2"/>
                          </a:solidFill>
                        </a:rPr>
                        <a:t>Java (JDK)</a:t>
                      </a:r>
                      <a:endParaRPr lang="en-US" sz="12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accent3"/>
                          </a:solidFill>
                        </a:rPr>
                        <a:t>Primary language for implementing OOP principles &amp; logic.</a:t>
                      </a:r>
                      <a:endParaRPr lang="en-US" sz="1200" dirty="0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860902"/>
                  </a:ext>
                </a:extLst>
              </a:tr>
              <a:tr h="5286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accent1"/>
                          </a:solidFill>
                        </a:rPr>
                        <a:t>Frontend/Interface</a:t>
                      </a:r>
                      <a:endParaRPr lang="en-US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accent2"/>
                          </a:solidFill>
                        </a:rPr>
                        <a:t>HTML, CSS, JavaScript</a:t>
                      </a:r>
                      <a:endParaRPr lang="en-US" sz="12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accent3"/>
                          </a:solidFill>
                        </a:rPr>
                        <a:t>Used to create a functional, modern web interface for user interaction and output display.</a:t>
                      </a:r>
                      <a:endParaRPr lang="en-US" sz="1200" dirty="0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2788975"/>
                  </a:ext>
                </a:extLst>
              </a:tr>
              <a:tr h="5286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Integrated Development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Visual Studio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solidFill>
                            <a:schemeClr val="accent3"/>
                          </a:solidFill>
                        </a:rPr>
                        <a:t>Used for writing and debugging the Java core logic and for authoring the HTML, CSS, and JavaScript files for the web interface.</a:t>
                      </a:r>
                      <a:endParaRPr lang="en-US" sz="1200" b="0" dirty="0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1041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967493AC-B4DE-993E-D7EC-3C8C9C79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A80955-F3FF-3CB3-9710-8AC3D06D3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13" y="1479275"/>
            <a:ext cx="3588001" cy="2063101"/>
          </a:xfrm>
          <a:prstGeom prst="rect">
            <a:avLst/>
          </a:prstGeom>
        </p:spPr>
      </p:pic>
      <p:sp>
        <p:nvSpPr>
          <p:cNvPr id="852" name="Google Shape;852;p42">
            <a:extLst>
              <a:ext uri="{FF2B5EF4-FFF2-40B4-BE49-F238E27FC236}">
                <a16:creationId xmlns:a16="http://schemas.microsoft.com/office/drawing/2014/main" id="{DD92AADF-A0A3-BD4C-3D37-2C4057D78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875" y="707666"/>
            <a:ext cx="6721297" cy="3259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dirty="0">
                <a:solidFill>
                  <a:schemeClr val="lt1"/>
                </a:solidFill>
              </a:rPr>
              <a:t>Screenshots of our Project </a:t>
            </a:r>
            <a:r>
              <a:rPr lang="en" sz="1600" dirty="0">
                <a:solidFill>
                  <a:schemeClr val="accent6"/>
                </a:solidFill>
              </a:rPr>
              <a:t>{</a:t>
            </a:r>
            <a:br>
              <a:rPr lang="en" sz="1600" dirty="0">
                <a:solidFill>
                  <a:schemeClr val="accent6"/>
                </a:solidFill>
              </a:rPr>
            </a:br>
            <a:r>
              <a:rPr lang="en" sz="1600" dirty="0">
                <a:solidFill>
                  <a:schemeClr val="accent6"/>
                </a:solidFill>
              </a:rPr>
              <a:t>		</a:t>
            </a:r>
            <a:r>
              <a:rPr lang="en" sz="16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our Project website</a:t>
            </a:r>
            <a:br>
              <a:rPr lang="en" sz="1600" dirty="0">
                <a:solidFill>
                  <a:schemeClr val="accent6"/>
                </a:solidFill>
              </a:rPr>
            </a:br>
            <a:endParaRPr sz="900" dirty="0">
              <a:solidFill>
                <a:schemeClr val="accent3"/>
              </a:solidFill>
            </a:endParaRPr>
          </a:p>
        </p:txBody>
      </p:sp>
      <p:sp>
        <p:nvSpPr>
          <p:cNvPr id="854" name="Google Shape;854;p42">
            <a:extLst>
              <a:ext uri="{FF2B5EF4-FFF2-40B4-BE49-F238E27FC236}">
                <a16:creationId xmlns:a16="http://schemas.microsoft.com/office/drawing/2014/main" id="{557F624C-ABBB-FC6D-15AD-1D58920EF33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6" y="4694725"/>
            <a:ext cx="9149975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C1CF98BD-03BF-3C39-8996-AB7D64491AE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18F9A704-D3C7-975D-59B7-7BF195644BE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- G </a:t>
            </a:r>
          </a:p>
        </p:txBody>
      </p:sp>
      <p:grpSp>
        <p:nvGrpSpPr>
          <p:cNvPr id="858" name="Google Shape;858;p42">
            <a:extLst>
              <a:ext uri="{FF2B5EF4-FFF2-40B4-BE49-F238E27FC236}">
                <a16:creationId xmlns:a16="http://schemas.microsoft.com/office/drawing/2014/main" id="{73EE94BA-EEF6-91B6-4DC9-1066329A4CAC}"/>
              </a:ext>
            </a:extLst>
          </p:cNvPr>
          <p:cNvGrpSpPr/>
          <p:nvPr/>
        </p:nvGrpSpPr>
        <p:grpSpPr>
          <a:xfrm>
            <a:off x="1084825" y="1212573"/>
            <a:ext cx="506100" cy="3326297"/>
            <a:chOff x="1084825" y="2556550"/>
            <a:chExt cx="506100" cy="1827037"/>
          </a:xfrm>
        </p:grpSpPr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9BC96932-D9B8-223C-3DF3-B433A9F019CC}"/>
                </a:ext>
              </a:extLst>
            </p:cNvPr>
            <p:cNvSpPr txBox="1"/>
            <p:nvPr/>
          </p:nvSpPr>
          <p:spPr>
            <a:xfrm>
              <a:off x="1084825" y="4069828"/>
              <a:ext cx="506100" cy="3137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2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860" name="Google Shape;860;p42">
              <a:extLst>
                <a:ext uri="{FF2B5EF4-FFF2-40B4-BE49-F238E27FC236}">
                  <a16:creationId xmlns:a16="http://schemas.microsoft.com/office/drawing/2014/main" id="{3A53E2F0-828C-7CAA-8F6E-4050D412ABA3}"/>
                </a:ext>
              </a:extLst>
            </p:cNvPr>
            <p:cNvCxnSpPr/>
            <p:nvPr/>
          </p:nvCxnSpPr>
          <p:spPr>
            <a:xfrm>
              <a:off x="1337875" y="2556550"/>
              <a:ext cx="0" cy="1377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52F9EDF-B398-AD5C-A87E-B122AF138A94}"/>
              </a:ext>
            </a:extLst>
          </p:cNvPr>
          <p:cNvSpPr txBox="1"/>
          <p:nvPr/>
        </p:nvSpPr>
        <p:spPr>
          <a:xfrm>
            <a:off x="1421315" y="3573828"/>
            <a:ext cx="358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Screenshot of Project Website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40F0C-2C3C-D8E8-D645-082501F0B272}"/>
              </a:ext>
            </a:extLst>
          </p:cNvPr>
          <p:cNvSpPr txBox="1"/>
          <p:nvPr/>
        </p:nvSpPr>
        <p:spPr>
          <a:xfrm>
            <a:off x="5092772" y="3565645"/>
            <a:ext cx="358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Example Test Case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28400645-98F9-8E5A-755E-C0D048875172}"/>
              </a:ext>
            </a:extLst>
          </p:cNvPr>
          <p:cNvSpPr/>
          <p:nvPr/>
        </p:nvSpPr>
        <p:spPr>
          <a:xfrm>
            <a:off x="1421314" y="1461179"/>
            <a:ext cx="3588000" cy="2099294"/>
          </a:xfrm>
          <a:prstGeom prst="frame">
            <a:avLst>
              <a:gd name="adj1" fmla="val 6629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A7E06-77EE-27DE-3957-E848953F3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000" y="1458137"/>
            <a:ext cx="3616770" cy="2084239"/>
          </a:xfrm>
          <a:prstGeom prst="rect">
            <a:avLst/>
          </a:prstGeom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CEDBD907-66A3-534C-383C-0B145B830CFF}"/>
              </a:ext>
            </a:extLst>
          </p:cNvPr>
          <p:cNvSpPr/>
          <p:nvPr/>
        </p:nvSpPr>
        <p:spPr>
          <a:xfrm>
            <a:off x="5063999" y="1461179"/>
            <a:ext cx="3616771" cy="2099294"/>
          </a:xfrm>
          <a:prstGeom prst="frame">
            <a:avLst>
              <a:gd name="adj1" fmla="val 6629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69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D0B33AA6-7421-6A0E-845E-41309D5B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">
            <a:extLst>
              <a:ext uri="{FF2B5EF4-FFF2-40B4-BE49-F238E27FC236}">
                <a16:creationId xmlns:a16="http://schemas.microsoft.com/office/drawing/2014/main" id="{6EC2909E-0B1E-18FF-295A-7D86815CD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874" y="463537"/>
            <a:ext cx="6721297" cy="3518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dirty="0">
                <a:solidFill>
                  <a:schemeClr val="lt1"/>
                </a:solidFill>
              </a:rPr>
              <a:t>Screenshot of the Code </a:t>
            </a:r>
            <a:r>
              <a:rPr lang="en" sz="1600" dirty="0">
                <a:solidFill>
                  <a:schemeClr val="accent6"/>
                </a:solidFill>
              </a:rPr>
              <a:t>{</a:t>
            </a:r>
            <a:br>
              <a:rPr lang="en" sz="1600" dirty="0">
                <a:solidFill>
                  <a:schemeClr val="accent6"/>
                </a:solidFill>
              </a:rPr>
            </a:br>
            <a:endParaRPr sz="900" dirty="0">
              <a:solidFill>
                <a:schemeClr val="accent3"/>
              </a:solidFill>
            </a:endParaRPr>
          </a:p>
        </p:txBody>
      </p:sp>
      <p:sp>
        <p:nvSpPr>
          <p:cNvPr id="854" name="Google Shape;854;p42">
            <a:extLst>
              <a:ext uri="{FF2B5EF4-FFF2-40B4-BE49-F238E27FC236}">
                <a16:creationId xmlns:a16="http://schemas.microsoft.com/office/drawing/2014/main" id="{377CC0C8-DFCC-DE24-F9F9-01099D70C6F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6" y="4694725"/>
            <a:ext cx="9149975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0B49226F-E99C-1710-3B42-4C9E3FB1A9B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6FE05A8A-008A-9447-998F-21A3CB5ECF9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1887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– G </a:t>
            </a:r>
          </a:p>
        </p:txBody>
      </p:sp>
      <p:grpSp>
        <p:nvGrpSpPr>
          <p:cNvPr id="858" name="Google Shape;858;p42">
            <a:extLst>
              <a:ext uri="{FF2B5EF4-FFF2-40B4-BE49-F238E27FC236}">
                <a16:creationId xmlns:a16="http://schemas.microsoft.com/office/drawing/2014/main" id="{D99924AE-112A-F814-4B4D-06AC8213EADC}"/>
              </a:ext>
            </a:extLst>
          </p:cNvPr>
          <p:cNvGrpSpPr/>
          <p:nvPr/>
        </p:nvGrpSpPr>
        <p:grpSpPr>
          <a:xfrm>
            <a:off x="1084824" y="1212574"/>
            <a:ext cx="506100" cy="3519659"/>
            <a:chOff x="1084824" y="2556550"/>
            <a:chExt cx="506100" cy="1933245"/>
          </a:xfrm>
        </p:grpSpPr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7CBE662F-3AA2-51A7-EF1F-FB3D4CAFC65E}"/>
                </a:ext>
              </a:extLst>
            </p:cNvPr>
            <p:cNvSpPr txBox="1"/>
            <p:nvPr/>
          </p:nvSpPr>
          <p:spPr>
            <a:xfrm>
              <a:off x="1084824" y="4176036"/>
              <a:ext cx="506100" cy="3137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2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860" name="Google Shape;860;p42">
              <a:extLst>
                <a:ext uri="{FF2B5EF4-FFF2-40B4-BE49-F238E27FC236}">
                  <a16:creationId xmlns:a16="http://schemas.microsoft.com/office/drawing/2014/main" id="{B258D9A2-B40A-4894-7CCF-750353681D0C}"/>
                </a:ext>
              </a:extLst>
            </p:cNvPr>
            <p:cNvCxnSpPr/>
            <p:nvPr/>
          </p:nvCxnSpPr>
          <p:spPr>
            <a:xfrm>
              <a:off x="1337875" y="2556550"/>
              <a:ext cx="0" cy="1377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E900D26-986B-402A-9559-37EA8A1B4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682" y="806125"/>
            <a:ext cx="2835682" cy="37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2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715F6EC9-CB70-9FB3-E6E5-309140A0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F5AD1295-7552-8C87-F0D3-43BC99F25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750947" y="514827"/>
            <a:ext cx="5028624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Test Cases For O</a:t>
            </a:r>
            <a:r>
              <a:rPr lang="en-IN" sz="2200" dirty="0"/>
              <a:t>u</a:t>
            </a:r>
            <a:r>
              <a:rPr lang="en" sz="2200" dirty="0"/>
              <a:t>r Project</a:t>
            </a:r>
            <a:r>
              <a:rPr lang="en-IN" sz="2200" dirty="0"/>
              <a:t> </a:t>
            </a:r>
            <a:r>
              <a:rPr lang="en-IN" sz="220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2F9D814D-132D-672A-C9EA-EF2DD66EC872}"/>
              </a:ext>
            </a:extLst>
          </p:cNvPr>
          <p:cNvSpPr txBox="1"/>
          <p:nvPr/>
        </p:nvSpPr>
        <p:spPr>
          <a:xfrm>
            <a:off x="1750947" y="390033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2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4F44510A-2D52-C93E-19FB-EEBEAF936C60}"/>
              </a:ext>
            </a:extLst>
          </p:cNvPr>
          <p:cNvCxnSpPr>
            <a:cxnSpLocks/>
          </p:cNvCxnSpPr>
          <p:nvPr/>
        </p:nvCxnSpPr>
        <p:spPr>
          <a:xfrm>
            <a:off x="1752607" y="1375944"/>
            <a:ext cx="0" cy="2632839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587614DA-A0A7-4C7A-B506-9668B660AE0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0" y="4694725"/>
            <a:ext cx="9143999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9E7F522E-77A4-02EE-085B-1529E052BBC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2139D4D1-501F-C270-DDF3-B1DCE12970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- G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D825EB-4215-BBB0-5C01-D44C575C5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803341"/>
              </p:ext>
            </p:extLst>
          </p:nvPr>
        </p:nvGraphicFramePr>
        <p:xfrm>
          <a:off x="2054086" y="1375944"/>
          <a:ext cx="6200954" cy="2574843"/>
        </p:xfrm>
        <a:graphic>
          <a:graphicData uri="http://schemas.openxmlformats.org/drawingml/2006/table">
            <a:tbl>
              <a:tblPr firstRow="1" bandRow="1">
                <a:tableStyleId>{C10D5D9E-AC0B-4FE0-93A4-85E646B4A382}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val="1054970850"/>
                    </a:ext>
                  </a:extLst>
                </a:gridCol>
                <a:gridCol w="861391">
                  <a:extLst>
                    <a:ext uri="{9D8B030D-6E8A-4147-A177-3AD203B41FA5}">
                      <a16:colId xmlns:a16="http://schemas.microsoft.com/office/drawing/2014/main" val="3771364748"/>
                    </a:ext>
                  </a:extLst>
                </a:gridCol>
                <a:gridCol w="2120348">
                  <a:extLst>
                    <a:ext uri="{9D8B030D-6E8A-4147-A177-3AD203B41FA5}">
                      <a16:colId xmlns:a16="http://schemas.microsoft.com/office/drawing/2014/main" val="1132780206"/>
                    </a:ext>
                  </a:extLst>
                </a:gridCol>
                <a:gridCol w="2000014">
                  <a:extLst>
                    <a:ext uri="{9D8B030D-6E8A-4147-A177-3AD203B41FA5}">
                      <a16:colId xmlns:a16="http://schemas.microsoft.com/office/drawing/2014/main" val="1701819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Intent of 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Input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Actual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518888"/>
                  </a:ext>
                </a:extLst>
              </a:tr>
              <a:tr h="44172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accent2"/>
                          </a:solidFill>
                        </a:rPr>
                        <a:t>Full Breakdown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</a:t>
                      </a:r>
                      <a:r>
                        <a:rPr lang="en-US" sz="8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3890</a:t>
                      </a:r>
                      <a:r>
                        <a:rPr lang="en-IN" sz="80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endParaRPr 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500 : 7 notes, ₹ 200 : 1 notes, ₹ 100 : 1 notes, ₹50 : 1 notes, ₹ 20 : 2 notes</a:t>
                      </a:r>
                    </a:p>
                    <a:p>
                      <a:pPr algn="ctr"/>
                      <a:endParaRPr lang="en-US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500 : 7 notes, ₹ 200 : 1 notes, ₹ 100 : 1 notes, ₹50 : 1 notes, ₹ 20 : 2 notes</a:t>
                      </a:r>
                    </a:p>
                    <a:p>
                      <a:pPr algn="ctr"/>
                      <a:endParaRPr lang="en-US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871438"/>
                  </a:ext>
                </a:extLst>
              </a:tr>
              <a:tr h="44172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accent2"/>
                          </a:solidFill>
                        </a:rPr>
                        <a:t>Zero Remainder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100</a:t>
                      </a:r>
                      <a:r>
                        <a:rPr lang="en-US" sz="8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IN" sz="80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endParaRPr 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500 : 2 notes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500 : 2 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744678"/>
                  </a:ext>
                </a:extLst>
              </a:tr>
              <a:tr h="44172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accent2"/>
                          </a:solidFill>
                        </a:rPr>
                        <a:t>Unaccounted Remainder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</a:t>
                      </a:r>
                      <a:r>
                        <a:rPr lang="en-US" sz="8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333</a:t>
                      </a:r>
                      <a:r>
                        <a:rPr lang="en-IN" sz="80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endParaRPr 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200 : 1 notes, ₹ 100 : 1 notes, ₹ 20 : 2 notes, ₹ 10 : 1 notes</a:t>
                      </a:r>
                    </a:p>
                    <a:p>
                      <a:pPr algn="ctr"/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Unaccounted balance : ₹ 3 </a:t>
                      </a:r>
                    </a:p>
                    <a:p>
                      <a:pPr algn="ctr"/>
                      <a:endParaRPr lang="en-US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200 : 1 notes, ₹ 100 : 1 notes, ₹ 20 : 2 notes, ₹ 10 : 1 notes</a:t>
                      </a:r>
                    </a:p>
                    <a:p>
                      <a:pPr algn="ctr"/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Unaccounted balance : ₹ 3 </a:t>
                      </a:r>
                    </a:p>
                    <a:p>
                      <a:pPr algn="ctr"/>
                      <a:endParaRPr lang="en-US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375202"/>
                  </a:ext>
                </a:extLst>
              </a:tr>
              <a:tr h="44172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accent2"/>
                          </a:solidFill>
                        </a:rPr>
                        <a:t>Edge Case 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2"/>
                          </a:solidFill>
                        </a:rPr>
                        <a:t>(Invalid Input)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Please enter a valid, non-negative integer amount.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Please enter a valid, non-negative integer amount.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484802"/>
                  </a:ext>
                </a:extLst>
              </a:tr>
              <a:tr h="44172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accent2"/>
                          </a:solidFill>
                        </a:rPr>
                        <a:t>Edge Case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2"/>
                          </a:solidFill>
                        </a:rPr>
                        <a:t> (Amount Zero)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₹ 0</a:t>
                      </a:r>
                    </a:p>
                    <a:p>
                      <a:pPr algn="ctr"/>
                      <a:endParaRPr lang="en-US" sz="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No breakdown required (amount is zero).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0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No breakdown required (amount is zero).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784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86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B2065DDB-2A29-47E6-E650-CAAF639BE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3F7EF14D-DEEB-C8CE-5D5E-ED0546F14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Conclusion: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8BDE63BD-F872-0074-4ED4-839E6CAFC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1148" y="969012"/>
            <a:ext cx="7977808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/>
                </a:solidFill>
              </a:rPr>
              <a:t>Summary: </a:t>
            </a:r>
            <a:r>
              <a:rPr lang="en-IN" dirty="0">
                <a:solidFill>
                  <a:schemeClr val="accent6"/>
                </a:solidFill>
              </a:rPr>
              <a:t>The project successfully transformed a basic task into a </a:t>
            </a:r>
            <a:r>
              <a:rPr lang="en-IN" b="1" dirty="0">
                <a:solidFill>
                  <a:schemeClr val="accent6"/>
                </a:solidFill>
              </a:rPr>
              <a:t>modular, Object-Oriented software system</a:t>
            </a:r>
            <a:r>
              <a:rPr lang="en-IN" dirty="0">
                <a:solidFill>
                  <a:schemeClr val="accent6"/>
                </a:solidFill>
              </a:rPr>
              <a:t>. The key finding is that by applying </a:t>
            </a:r>
            <a:r>
              <a:rPr lang="en-IN" b="1" dirty="0">
                <a:solidFill>
                  <a:schemeClr val="accent6"/>
                </a:solidFill>
              </a:rPr>
              <a:t>Inheritance </a:t>
            </a:r>
            <a:r>
              <a:rPr lang="en-IN" dirty="0">
                <a:solidFill>
                  <a:schemeClr val="accent6"/>
                </a:solidFill>
              </a:rPr>
              <a:t>and </a:t>
            </a:r>
            <a:r>
              <a:rPr lang="en-IN" b="1" dirty="0">
                <a:solidFill>
                  <a:schemeClr val="accent6"/>
                </a:solidFill>
              </a:rPr>
              <a:t>Encapsulation</a:t>
            </a:r>
            <a:r>
              <a:rPr lang="en-IN" dirty="0">
                <a:solidFill>
                  <a:schemeClr val="accent6"/>
                </a:solidFill>
              </a:rPr>
              <a:t>, the solution became dramatically more </a:t>
            </a:r>
            <a:r>
              <a:rPr lang="en-IN" b="1" dirty="0">
                <a:solidFill>
                  <a:schemeClr val="accent6"/>
                </a:solidFill>
              </a:rPr>
              <a:t>flexible and scalable</a:t>
            </a:r>
            <a:r>
              <a:rPr lang="en-IN" dirty="0">
                <a:solidFill>
                  <a:schemeClr val="accent6"/>
                </a:solidFill>
              </a:rPr>
              <a:t> than the initial procedural approach. The application delivers a fast calculation proving the robustness of the code.</a:t>
            </a:r>
          </a:p>
          <a:p>
            <a:pPr marL="13970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Limitations:</a:t>
            </a:r>
            <a:r>
              <a:rPr lang="en-IN" dirty="0"/>
              <a:t> </a:t>
            </a:r>
            <a:r>
              <a:rPr lang="en-IN" dirty="0">
                <a:solidFill>
                  <a:schemeClr val="accent6"/>
                </a:solidFill>
              </a:rPr>
              <a:t>The calculation works correctly for standard Indian currency denominations but may not give accurate results if unusual or non-standard denominations are used.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Future Scope: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b="1" dirty="0">
                <a:solidFill>
                  <a:schemeClr val="tx2"/>
                </a:solidFill>
              </a:rPr>
              <a:t>Configuration File:</a:t>
            </a:r>
            <a:r>
              <a:rPr lang="en-IN" sz="1000" dirty="0">
                <a:solidFill>
                  <a:schemeClr val="tx2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Load currency denominations from an external file so they can be changed easily without modifying or recompiling the program.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000" dirty="0">
              <a:solidFill>
                <a:schemeClr val="accent6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b="1" dirty="0">
                <a:solidFill>
                  <a:schemeClr val="tx2"/>
                </a:solidFill>
              </a:rPr>
              <a:t>Advanced Algorithm:</a:t>
            </a:r>
            <a:r>
              <a:rPr lang="en-IN" sz="1000" dirty="0">
                <a:solidFill>
                  <a:schemeClr val="tx2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Use a more flexible calculation approach to ensure correct results even if different or unusual currency denominations are used.</a:t>
            </a:r>
          </a:p>
          <a:p>
            <a:pPr marL="457200" lvl="1" indent="0">
              <a:buNone/>
            </a:pPr>
            <a:endParaRPr lang="en-IN" sz="1000" dirty="0">
              <a:solidFill>
                <a:schemeClr val="accent6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b="1" dirty="0">
                <a:solidFill>
                  <a:schemeClr val="tx2"/>
                </a:solidFill>
              </a:rPr>
              <a:t>Custom Exceptions:</a:t>
            </a:r>
            <a:r>
              <a:rPr lang="en-IN" sz="1000" dirty="0">
                <a:solidFill>
                  <a:schemeClr val="accent6"/>
                </a:solidFill>
              </a:rPr>
              <a:t> </a:t>
            </a:r>
            <a:r>
              <a:rPr lang="en-IN" sz="1100" dirty="0">
                <a:solidFill>
                  <a:schemeClr val="accent6"/>
                </a:solidFill>
              </a:rPr>
              <a:t>Introduce a custom Exception class to handle invalid user input more professionally.</a:t>
            </a: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A46E8B18-F584-CE04-5387-F82E449A678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6" y="4694725"/>
            <a:ext cx="9149975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1D4F655-7A29-3073-6690-2D73EA78407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0"/>
            <a:ext cx="457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7613C22-1B4F-7B5E-05BA-036F19A5930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- G </a:t>
            </a:r>
          </a:p>
        </p:txBody>
      </p:sp>
    </p:spTree>
    <p:extLst>
      <p:ext uri="{BB962C8B-B14F-4D97-AF65-F5344CB8AC3E}">
        <p14:creationId xmlns:p14="http://schemas.microsoft.com/office/powerpoint/2010/main" val="308343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"/>
          <p:cNvSpPr txBox="1">
            <a:spLocks noGrp="1"/>
          </p:cNvSpPr>
          <p:nvPr>
            <p:ph type="subTitle" idx="4294967295"/>
          </p:nvPr>
        </p:nvSpPr>
        <p:spPr>
          <a:xfrm>
            <a:off x="-5974" y="4694725"/>
            <a:ext cx="9149974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25UC0034 - GLOBAL LOGIC BUILDING CONTEST PRACTICUM</a:t>
            </a:r>
          </a:p>
        </p:txBody>
      </p:sp>
      <p:sp>
        <p:nvSpPr>
          <p:cNvPr id="823" name="Google Shape;823;p4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Currency Breakdown Calculator</a:t>
            </a:r>
          </a:p>
        </p:txBody>
      </p:sp>
      <p:sp>
        <p:nvSpPr>
          <p:cNvPr id="826" name="Google Shape;826;p4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accent3"/>
                </a:solidFill>
              </a:rPr>
              <a:t>Section – 9, Team - G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DE3BCA-A994-C408-DCE0-D5C590C6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061" y="686628"/>
            <a:ext cx="7182678" cy="3770244"/>
          </a:xfrm>
        </p:spPr>
        <p:txBody>
          <a:bodyPr/>
          <a:lstStyle/>
          <a:p>
            <a:pPr algn="ctr"/>
            <a:r>
              <a:rPr lang="en-IN" sz="2000" dirty="0">
                <a:solidFill>
                  <a:schemeClr val="accent2"/>
                </a:solidFill>
              </a:rPr>
              <a:t>This project helped us grasp practical application of Java concepts and object-oriented design principles.</a:t>
            </a:r>
            <a:br>
              <a:rPr lang="en-IN" sz="2000" dirty="0">
                <a:solidFill>
                  <a:schemeClr val="accent2"/>
                </a:solidFill>
              </a:rPr>
            </a:br>
            <a:br>
              <a:rPr lang="en-IN" sz="2000" dirty="0"/>
            </a:br>
            <a:r>
              <a:rPr lang="en-IN" sz="2000" dirty="0"/>
              <a:t>We Sincerely Thank our Guides </a:t>
            </a:r>
            <a:r>
              <a:rPr lang="en-IN" sz="2000" dirty="0" err="1">
                <a:solidFill>
                  <a:schemeClr val="bg2"/>
                </a:solidFill>
              </a:rPr>
              <a:t>Dr.</a:t>
            </a:r>
            <a:r>
              <a:rPr lang="en-IN" sz="2000" dirty="0">
                <a:solidFill>
                  <a:schemeClr val="bg2"/>
                </a:solidFill>
              </a:rPr>
              <a:t> Venkat </a:t>
            </a:r>
            <a:r>
              <a:rPr lang="en-IN" sz="2000" dirty="0" err="1">
                <a:solidFill>
                  <a:schemeClr val="bg2"/>
                </a:solidFill>
              </a:rPr>
              <a:t>Isampalli</a:t>
            </a:r>
            <a:r>
              <a:rPr lang="en-IN" sz="2000" dirty="0">
                <a:solidFill>
                  <a:schemeClr val="bg2"/>
                </a:solidFill>
              </a:rPr>
              <a:t> Sir </a:t>
            </a:r>
            <a:r>
              <a:rPr lang="en-IN" sz="2000" dirty="0"/>
              <a:t>for their continuous support and guidance throughout this project.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8305-7D7F-08DF-DDA6-F3B50D9AC7F2}"/>
              </a:ext>
            </a:extLst>
          </p:cNvPr>
          <p:cNvSpPr txBox="1"/>
          <p:nvPr/>
        </p:nvSpPr>
        <p:spPr>
          <a:xfrm>
            <a:off x="3071865" y="748748"/>
            <a:ext cx="29883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Appreciation &amp; Acknowledgment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1017</Words>
  <Application>Microsoft Macintosh PowerPoint</Application>
  <PresentationFormat>On-screen Show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Fira Code</vt:lpstr>
      <vt:lpstr>Arial</vt:lpstr>
      <vt:lpstr>Programming Language Workshop for Beginners by Slidesgo</vt:lpstr>
      <vt:lpstr>PowerPoint Presentation</vt:lpstr>
      <vt:lpstr>01</vt:lpstr>
      <vt:lpstr>Problem Statement:</vt:lpstr>
      <vt:lpstr>Our Proposed System {  </vt:lpstr>
      <vt:lpstr>Technology / Tools used {</vt:lpstr>
      <vt:lpstr>Screenshots of our Project {   Link to our Project website </vt:lpstr>
      <vt:lpstr>Screenshot of the Code { </vt:lpstr>
      <vt:lpstr>Test Cases For Our Project {</vt:lpstr>
      <vt:lpstr>Conclusion:</vt:lpstr>
      <vt:lpstr>This project helped us grasp practical application of Java concepts and object-oriented design principles.  We Sincerely Thank our Guides Dr. Venkat Isampalli Sir for their continuous support and guidance throughout this project.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Rohan Jacob Variganji</cp:lastModifiedBy>
  <cp:revision>14</cp:revision>
  <dcterms:modified xsi:type="dcterms:W3CDTF">2025-12-14T17:12:06Z</dcterms:modified>
</cp:coreProperties>
</file>